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</p:sp>
      <p:sp>
        <p:nvSpPr>
          <p:cNvPr id="3" name="Shape 3"/>
          <p:cNvSpPr/>
          <p:nvPr/>
        </p:nvSpPr>
        <p:spPr>
          <a:xfrm>
            <a:off x="594360" y="502920"/>
            <a:ext cx="11000232" cy="5852160"/>
          </a:xfrm>
          <a:prstGeom prst="roundRect">
            <a:avLst/>
          </a:prstGeom>
          <a:solidFill>
            <a:srgbClr val="FFFFFF"/>
          </a:solidFill>
          <a:ln>
            <a:solidFill>
              <a:srgbClr val="D1FAE5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868680" y="77724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68680" y="116128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68680" y="187452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3800" b="1">
                <a:solidFill>
                  <a:srgbClr val="020617"/>
                </a:solidFill>
              </a:rPr>
              <a:t>Compliance Health Report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96112" y="2633472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600">
                <a:solidFill>
                  <a:srgbClr val="475569"/>
                </a:solidFill>
              </a:rPr>
              <a:t>Professional workflow for compliance review, evidence tracking, checklist validation, and final submission.</a:t>
            </a:r>
          </a:p>
        </p:txBody>
      </p:sp>
      <p:sp>
        <p:nvSpPr>
          <p:cNvPr id="22" name="Shape 22"/>
          <p:cNvSpPr/>
          <p:nvPr/>
        </p:nvSpPr>
        <p:spPr>
          <a:xfrm>
            <a:off x="896112" y="3337560"/>
            <a:ext cx="2834640" cy="502920"/>
          </a:xfrm>
          <a:prstGeom prst="round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1024128" y="340156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400" b="1">
                <a:solidFill>
                  <a:srgbClr val="FFFFFF"/>
                </a:solidFill>
              </a:rPr>
              <a:t>Lead-to-report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02920" y="32004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02920" y="70408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02920" y="105156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020617"/>
                </a:solidFill>
              </a:rPr>
              <a:t>Page Workflow</a:t>
            </a:r>
          </a:p>
        </p:txBody>
      </p:sp>
      <p:sp>
        <p:nvSpPr>
          <p:cNvPr id="30" name="Shape 30"/>
          <p:cNvSpPr/>
          <p:nvPr/>
        </p:nvSpPr>
        <p:spPr>
          <a:xfrm>
            <a:off x="640080" y="1920240"/>
            <a:ext cx="2286000" cy="10058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868680" y="221284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800" b="1">
                <a:solidFill>
                  <a:srgbClr val="065F46"/>
                </a:solidFill>
              </a:rPr>
              <a:t>Lead Capture</a:t>
            </a:r>
          </a:p>
        </p:txBody>
      </p:sp>
      <p:sp>
        <p:nvSpPr>
          <p:cNvPr id="32" name="Shape 32"/>
          <p:cNvSpPr/>
          <p:nvPr/>
        </p:nvSpPr>
        <p:spPr>
          <a:xfrm>
            <a:off x="3246120" y="1920240"/>
            <a:ext cx="228600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3456432" y="2212848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800" b="1">
                <a:solidFill>
                  <a:srgbClr val="1D4ED8"/>
                </a:solidFill>
              </a:rPr>
              <a:t>Report Form</a:t>
            </a:r>
          </a:p>
        </p:txBody>
      </p:sp>
      <p:sp>
        <p:nvSpPr>
          <p:cNvPr id="34" name="Shape 34"/>
          <p:cNvSpPr/>
          <p:nvPr/>
        </p:nvSpPr>
        <p:spPr>
          <a:xfrm>
            <a:off x="5852160" y="1920240"/>
            <a:ext cx="2286000" cy="1005840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6062472" y="2212848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800" b="1">
                <a:solidFill>
                  <a:srgbClr val="C2410C"/>
                </a:solidFill>
              </a:rPr>
              <a:t>Evidence Upload</a:t>
            </a:r>
          </a:p>
        </p:txBody>
      </p:sp>
      <p:sp>
        <p:nvSpPr>
          <p:cNvPr id="36" name="Shape 36"/>
          <p:cNvSpPr/>
          <p:nvPr/>
        </p:nvSpPr>
        <p:spPr>
          <a:xfrm>
            <a:off x="8458200" y="1920240"/>
            <a:ext cx="22860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8668512" y="2212848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800" b="1">
                <a:solidFill>
                  <a:srgbClr val="0F172A"/>
                </a:solidFill>
              </a:rPr>
              <a:t>Final Submit</a:t>
            </a:r>
          </a:p>
        </p:txBody>
      </p:sp>
      <p:sp>
        <p:nvSpPr>
          <p:cNvPr id="40" name="Bullets 40"/>
          <p:cNvSpPr txBox="1"/>
          <p:nvPr/>
        </p:nvSpPr>
        <p:spPr>
          <a:xfrm>
            <a:off x="822960" y="365760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Avoids repeated lead data in report view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Supports compliance observations, annual return gaps, checklist review and evidence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Includes confirmation prompts before final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02920" y="32004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02920" y="70408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02920" y="9601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020617"/>
                </a:solidFill>
              </a:rPr>
              <a:t>Company Overview</a:t>
            </a:r>
          </a:p>
        </p:txBody>
      </p:sp>
      <p:sp>
        <p:nvSpPr>
          <p:cNvPr id="30" name="Bullets 30"/>
          <p:cNvSpPr txBox="1"/>
          <p:nvPr/>
        </p:nvSpPr>
        <p:spPr>
          <a:xfrm>
            <a:off x="731520" y="1783080"/>
            <a:ext cx="5029200" cy="2926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Year of commencement and establishment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Organization type and EPR registration number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Financial year reviewed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Key Products / Brands as multi-select</a:t>
            </a:r>
          </a:p>
        </p:txBody>
      </p:sp>
      <p:sp>
        <p:nvSpPr>
          <p:cNvPr id="40" name="Shape 40"/>
          <p:cNvSpPr/>
          <p:nvPr/>
        </p:nvSpPr>
        <p:spPr>
          <a:xfrm>
            <a:off x="6309360" y="1645920"/>
            <a:ext cx="493776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629400" y="19659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000" b="1">
                <a:solidFill>
                  <a:srgbClr val="0F172A"/>
                </a:solidFill>
              </a:rPr>
              <a:t>Key Products / Brands</a:t>
            </a:r>
          </a:p>
        </p:txBody>
      </p:sp>
      <p:sp>
        <p:nvSpPr>
          <p:cNvPr id="42" name="Shape 42"/>
          <p:cNvSpPr/>
          <p:nvPr/>
        </p:nvSpPr>
        <p:spPr>
          <a:xfrm>
            <a:off x="6629400" y="2606040"/>
            <a:ext cx="384048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6812280" y="271576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400" b="1">
                <a:solidFill>
                  <a:srgbClr val="047857"/>
                </a:solidFill>
              </a:rPr>
              <a:t>Uploaded in shared folder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02920" y="32004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02920" y="70408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02920" y="9601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020617"/>
                </a:solidFill>
              </a:rPr>
              <a:t>Shared Folder Upload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30352" y="150876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500">
                <a:solidFill>
                  <a:srgbClr val="475569"/>
                </a:solidFill>
              </a:rPr>
              <a:t>Users can select the shared-folder status and then upload files or an entire folder for supporting product/brand evidence.</a:t>
            </a:r>
          </a:p>
        </p:txBody>
      </p:sp>
      <p:sp>
        <p:nvSpPr>
          <p:cNvPr id="30" name="Shape 30"/>
          <p:cNvSpPr/>
          <p:nvPr/>
        </p:nvSpPr>
        <p:spPr>
          <a:xfrm>
            <a:off x="731520" y="2377440"/>
            <a:ext cx="3017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A7F3D0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960120" y="26974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800" b="1">
                <a:solidFill>
                  <a:srgbClr val="047857"/>
                </a:solidFill>
              </a:rPr>
              <a:t>Choose Files</a:t>
            </a:r>
          </a:p>
        </p:txBody>
      </p:sp>
      <p:sp>
        <p:nvSpPr>
          <p:cNvPr id="32" name="Shape 32"/>
          <p:cNvSpPr/>
          <p:nvPr/>
        </p:nvSpPr>
        <p:spPr>
          <a:xfrm>
            <a:off x="4160520" y="2377440"/>
            <a:ext cx="3017520" cy="1051560"/>
          </a:xfrm>
          <a:prstGeom prst="round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4389120" y="26974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800" b="1">
                <a:solidFill>
                  <a:srgbClr val="FFFFFF"/>
                </a:solidFill>
              </a:rPr>
              <a:t>Choose Folder</a:t>
            </a:r>
          </a:p>
        </p:txBody>
      </p:sp>
      <p:sp>
        <p:nvSpPr>
          <p:cNvPr id="40" name="Bullets 40"/>
          <p:cNvSpPr txBox="1"/>
          <p:nvPr/>
        </p:nvSpPr>
        <p:spPr>
          <a:xfrm>
            <a:off x="822960" y="4069080"/>
            <a:ext cx="987552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Stores file names, size, upload date and folder path metadata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Supports multiple files and full folder selection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Keeps evidence organized inside the compliance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02920" y="32004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02920" y="70408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02920" y="9601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020617"/>
                </a:solidFill>
              </a:rPr>
              <a:t>Compliance Observations</a:t>
            </a:r>
          </a:p>
        </p:txBody>
      </p:sp>
      <p:sp>
        <p:nvSpPr>
          <p:cNvPr id="30" name="Bullets 30"/>
          <p:cNvSpPr txBox="1"/>
          <p:nvPr/>
        </p:nvSpPr>
        <p:spPr>
          <a:xfrm>
            <a:off x="731520" y="1783080"/>
            <a:ext cx="4937760" cy="3200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3.1 Key Compliance Observations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3.2 Annual Return Observations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Area, observation, potential risk and screenshot reference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Dynamic rows with upload support</a:t>
            </a:r>
          </a:p>
        </p:txBody>
      </p:sp>
      <p:sp>
        <p:nvSpPr>
          <p:cNvPr id="40" name="Shape 40"/>
          <p:cNvSpPr/>
          <p:nvPr/>
        </p:nvSpPr>
        <p:spPr>
          <a:xfrm>
            <a:off x="6172200" y="155448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446520" y="18745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000" b="1">
                <a:solidFill>
                  <a:srgbClr val="0F172A"/>
                </a:solidFill>
              </a:rPr>
              <a:t>Observation Table UI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6446520" y="251460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300">
                <a:solidFill>
                  <a:srgbClr val="475569"/>
                </a:solidFill>
              </a:rPr>
              <a:t>Sr. No. | Area | Observation | Risk | Screenshot</a:t>
            </a:r>
          </a:p>
        </p:txBody>
      </p:sp>
      <p:sp>
        <p:nvSpPr>
          <p:cNvPr id="43" name="Shape 43"/>
          <p:cNvSpPr/>
          <p:nvPr/>
        </p:nvSpPr>
        <p:spPr>
          <a:xfrm>
            <a:off x="6446520" y="3154680"/>
            <a:ext cx="4206240" cy="41148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6601968" y="324612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300" b="1">
                <a:solidFill>
                  <a:srgbClr val="047857"/>
                </a:solidFill>
              </a:rPr>
              <a:t>Multiple image evidence supported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02920" y="32004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02920" y="70408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02920" y="9601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020617"/>
                </a:solidFill>
              </a:rPr>
              <a:t>Checklist Review</a:t>
            </a:r>
          </a:p>
        </p:txBody>
      </p:sp>
      <p:sp>
        <p:nvSpPr>
          <p:cNvPr id="30" name="Bullets 30"/>
          <p:cNvSpPr txBox="1"/>
          <p:nvPr/>
        </p:nvSpPr>
        <p:spPr>
          <a:xfrm>
            <a:off x="731520" y="1783080"/>
            <a:ext cx="9966960" cy="2926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Grouped checklist sections: Part A, Authorized Person Details, Operational Details and Documents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Each item captures status and remarks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Centered, compact inputs keep long reports easier to scan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Designed for repeated compliance review 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02920" y="32004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02920" y="70408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02920" y="9601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020617"/>
                </a:solidFill>
              </a:rPr>
              <a:t>Final Notes &amp; Review</a:t>
            </a:r>
          </a:p>
        </p:txBody>
      </p:sp>
      <p:sp>
        <p:nvSpPr>
          <p:cNvPr id="30" name="Bullets 30"/>
          <p:cNvSpPr txBox="1"/>
          <p:nvPr/>
        </p:nvSpPr>
        <p:spPr>
          <a:xfrm>
            <a:off x="731520" y="1737360"/>
            <a:ext cx="5120640" cy="2926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Conclusion and recommendations appear side by side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Add more note pairs as needed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Existing saved notes can be frozen for review stability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Cut button removes extra rows</a:t>
            </a:r>
          </a:p>
        </p:txBody>
      </p:sp>
      <p:sp>
        <p:nvSpPr>
          <p:cNvPr id="40" name="Shape 40"/>
          <p:cNvSpPr/>
          <p:nvPr/>
        </p:nvSpPr>
        <p:spPr>
          <a:xfrm>
            <a:off x="6263640" y="1828800"/>
            <a:ext cx="2240280" cy="6858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446520" y="2039112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600" b="1">
                <a:solidFill>
                  <a:srgbClr val="047857"/>
                </a:solidFill>
              </a:rPr>
              <a:t>Conclusion</a:t>
            </a:r>
          </a:p>
        </p:txBody>
      </p:sp>
      <p:sp>
        <p:nvSpPr>
          <p:cNvPr id="42" name="Shape 42"/>
          <p:cNvSpPr/>
          <p:nvPr/>
        </p:nvSpPr>
        <p:spPr>
          <a:xfrm>
            <a:off x="8732520" y="1828800"/>
            <a:ext cx="2240280" cy="6858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8915400" y="2039112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600" b="1">
                <a:solidFill>
                  <a:srgbClr val="047857"/>
                </a:solidFill>
              </a:rPr>
              <a:t>Recommendations</a:t>
            </a:r>
          </a:p>
        </p:txBody>
      </p:sp>
      <p:sp>
        <p:nvSpPr>
          <p:cNvPr id="44" name="Shape 44"/>
          <p:cNvSpPr/>
          <p:nvPr/>
        </p:nvSpPr>
        <p:spPr>
          <a:xfrm>
            <a:off x="7269480" y="3063240"/>
            <a:ext cx="2560320" cy="59436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7452360" y="3227832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500" b="1">
                <a:solidFill>
                  <a:srgbClr val="FFFFFF"/>
                </a:solidFill>
              </a:rPr>
              <a:t>Submit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685800" y="54864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800" b="1">
                <a:solidFill>
                  <a:srgbClr val="F97316"/>
                </a:solidFill>
              </a:rPr>
              <a:t>ANANT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85800" y="93268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800">
                <a:solidFill>
                  <a:srgbClr val="111827"/>
                </a:solidFill>
              </a:rPr>
              <a:t>TATTVA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85800" y="150876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3000" b="1">
                <a:solidFill>
                  <a:srgbClr val="020617"/>
                </a:solidFill>
              </a:rPr>
              <a:t>Professional Compliance Reporting Experience</a:t>
            </a:r>
          </a:p>
        </p:txBody>
      </p:sp>
      <p:sp>
        <p:nvSpPr>
          <p:cNvPr id="30" name="Bullets 30"/>
          <p:cNvSpPr txBox="1"/>
          <p:nvPr/>
        </p:nvSpPr>
        <p:spPr>
          <a:xfrm>
            <a:off x="868680" y="2423160"/>
            <a:ext cx="9875520" cy="2194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Clean, modern interface for operational compliance teams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Evidence-first report flow with screenshots and shared folder uploads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Structured checklist review and final confirmation</a:t>
            </a:r>
          </a:p>
          <a:p>
            <a:pPr marL="285750" indent="-171450">
              <a:buChar char="â€¢"/>
            </a:pPr>
            <a:r>
              <a:rPr lang="en-US" sz="1600">
                <a:solidFill>
                  <a:srgbClr val="334155"/>
                </a:solidFill>
              </a:rPr>
              <a:t>Ready for database-backed CRM workflow</a:t>
            </a:r>
          </a:p>
        </p:txBody>
      </p:sp>
      <p:sp>
        <p:nvSpPr>
          <p:cNvPr id="40" name="Shape 40"/>
          <p:cNvSpPr/>
          <p:nvPr/>
        </p:nvSpPr>
        <p:spPr>
          <a:xfrm>
            <a:off x="868680" y="5212080"/>
            <a:ext cx="2926080" cy="502920"/>
          </a:xfrm>
          <a:prstGeom prst="round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1051560" y="532180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/>
            <a:r>
              <a:rPr lang="en-US" sz="1400" b="1">
                <a:solidFill>
                  <a:srgbClr val="FFFFFF"/>
                </a:solidFill>
              </a:rPr>
              <a:t>ANANT TATTVA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nt Tattva">
  <a:themeElements>
    <a:clrScheme name="Anant">
      <a:dk1>
        <a:srgbClr val="020617"/>
      </a:dk1>
      <a:lt1>
        <a:srgbClr val="FFFFFF"/>
      </a:lt1>
      <a:dk2>
        <a:srgbClr val="334155"/>
      </a:dk2>
      <a:lt2>
        <a:srgbClr val="F8FAFC"/>
      </a:lt2>
      <a:accent1>
        <a:srgbClr val="047857"/>
      </a:accent1>
      <a:accent2>
        <a:srgbClr val="F97316"/>
      </a:accent2>
      <a:accent3>
        <a:srgbClr val="0EA5E9"/>
      </a:accent3>
      <a:accent4>
        <a:srgbClr val="64748B"/>
      </a:accent4>
      <a:accent5>
        <a:srgbClr val="10B981"/>
      </a:accent5>
      <a:accent6>
        <a:srgbClr val="FB923C"/>
      </a:accent6>
      <a:hlink>
        <a:srgbClr val="0EA5E9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Compliance Health Report</dc:title>
  <dc:creator>Anant Tattva</dc:creator>
  <cp:lastModifiedBy>Anant Tattva</cp:lastModifiedBy>
  <dcterms:created xsi:type="dcterms:W3CDTF">2026-06-29T12:33:26Z</dcterms:created>
  <dcterms:modified xsi:type="dcterms:W3CDTF">2026-06-29T12:33:26Z</dcterms:modified>
</cp:coreProperties>
</file>