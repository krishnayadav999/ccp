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</Relationships>
</file>

<file path=ppt/slideLayouts/_rels/slideLayout1.xml.rels><?xml version="1.0" encoding="UTF-8" standalone="yes"?>
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</p:sp>
      <p:sp>
        <p:nvSpPr>
          <p:cNvPr id="3" name="Shape 3"/>
          <p:cNvSpPr/>
          <p:nvPr/>
        </p:nvSpPr>
        <p:spPr>
          <a:xfrm>
            <a:off x="594360" y="502920"/>
            <a:ext cx="11000232" cy="5852160"/>
          </a:xfrm>
          <a:prstGeom prst="round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868680" y="822960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68680" y="1207008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68680" y="1828800"/>
            <a:ext cx="89611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3200" b="1">
                <a:solidFill>
                  <a:srgbClr val="020617"/>
                </a:solidFill>
              </a:rPr>
              <a:t>Sales Lead Generator &amp; Compliance Health Report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96112" y="2670048"/>
            <a:ext cx="81381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>
                <a:solidFill>
                  <a:srgbClr val="475569"/>
                </a:solidFill>
              </a:rPr>
              <a:t>Professional English walkthrough of every section and input on the Lead Generation page and its Compliance Health Report workflow.</a:t>
            </a:r>
          </a:p>
        </p:txBody>
      </p:sp>
      <p:sp>
        <p:nvSpPr>
          <p:cNvPr id="22" name="Shape 22"/>
          <p:cNvSpPr/>
          <p:nvPr/>
        </p:nvSpPr>
        <p:spPr>
          <a:xfrm>
            <a:off x="896112" y="3474720"/>
            <a:ext cx="3200400" cy="50292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024128" y="357530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300" b="1">
                <a:solidFill>
                  <a:srgbClr val="FFFFFF"/>
                </a:solidFill>
              </a:rPr>
              <a:t>ANANT TATTVA CRM</a:t>
            </a:r>
          </a:p>
        </p:txBody>
      </p:sp>
      <p:sp>
        <p:nvSpPr>
          <p:cNvPr id="24" name="Shape 24"/>
          <p:cNvSpPr/>
          <p:nvPr/>
        </p:nvSpPr>
        <p:spPr>
          <a:xfrm>
            <a:off x="4343400" y="3474720"/>
            <a:ext cx="4389120" cy="50292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4526280" y="357530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300" b="1">
                <a:solidFill>
                  <a:srgbClr val="C2410C"/>
                </a:solidFill>
              </a:rPr>
              <a:t>Route: /sales/lead-generation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Complete User Journey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Shape 30"/>
          <p:cNvSpPr/>
          <p:nvPr/>
        </p:nvSpPr>
        <p:spPr>
          <a:xfrm>
            <a:off x="685800" y="1737360"/>
            <a:ext cx="187452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822960" y="1956816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047857"/>
                </a:solidFill>
              </a:rPr>
              <a:t>1. Company</a:t>
            </a:r>
          </a:p>
        </p:txBody>
      </p:sp>
      <p:sp>
        <p:nvSpPr>
          <p:cNvPr id="32" name="Shape 32"/>
          <p:cNvSpPr/>
          <p:nvPr/>
        </p:nvSpPr>
        <p:spPr>
          <a:xfrm>
            <a:off x="2743200" y="1737360"/>
            <a:ext cx="1874520" cy="74980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2880360" y="1956816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1D4ED8"/>
                </a:solidFill>
              </a:rPr>
              <a:t>2. Address</a:t>
            </a:r>
          </a:p>
        </p:txBody>
      </p:sp>
      <p:sp>
        <p:nvSpPr>
          <p:cNvPr id="34" name="Shape 34"/>
          <p:cNvSpPr/>
          <p:nvPr/>
        </p:nvSpPr>
        <p:spPr>
          <a:xfrm>
            <a:off x="4800600" y="1737360"/>
            <a:ext cx="1874520" cy="749808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4937760" y="1956816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C2410C"/>
                </a:solidFill>
              </a:rPr>
              <a:t>3. Contact</a:t>
            </a:r>
          </a:p>
        </p:txBody>
      </p:sp>
      <p:sp>
        <p:nvSpPr>
          <p:cNvPr id="36" name="Shape 36"/>
          <p:cNvSpPr/>
          <p:nvPr/>
        </p:nvSpPr>
        <p:spPr>
          <a:xfrm>
            <a:off x="6858000" y="1737360"/>
            <a:ext cx="1874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6995160" y="1956816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0F172A"/>
                </a:solidFill>
              </a:rPr>
              <a:t>4. Assign</a:t>
            </a:r>
          </a:p>
        </p:txBody>
      </p:sp>
      <p:sp>
        <p:nvSpPr>
          <p:cNvPr id="38" name="Shape 38"/>
          <p:cNvSpPr/>
          <p:nvPr/>
        </p:nvSpPr>
        <p:spPr>
          <a:xfrm>
            <a:off x="8915400" y="1737360"/>
            <a:ext cx="2194560" cy="749808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9052560" y="195681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FFFFFF"/>
                </a:solidFill>
              </a:rPr>
              <a:t>5. Report</a:t>
            </a:r>
          </a:p>
        </p:txBody>
      </p:sp>
      <p:sp>
        <p:nvSpPr>
          <p:cNvPr id="40" name="Bullets 40"/>
          <p:cNvSpPr txBox="1"/>
          <p:nvPr/>
        </p:nvSpPr>
        <p:spPr>
          <a:xfrm>
            <a:off x="868680" y="3246120"/>
            <a:ext cx="10241280" cy="1737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500">
                <a:solidFill>
                  <a:srgbClr val="334155"/>
                </a:solidFill>
              </a:rPr>
              <a:t>The page starts with structured lead entry across four tabs.</a:t>
            </a:r>
          </a:p>
          <a:p>
            <a:pPr marL="240000" indent="-140000">
              <a:buChar char="-"/>
            </a:pPr>
            <a:r>
              <a:rPr lang="en-US" sz="1500">
                <a:solidFill>
                  <a:srgbClr val="334155"/>
                </a:solidFill>
              </a:rPr>
              <a:t>Submit opens a decision popup: process Compliance Health Report or submit lead only.</a:t>
            </a:r>
          </a:p>
          <a:p>
            <a:pPr marL="240000" indent="-140000">
              <a:buChar char="-"/>
            </a:pPr>
            <a:r>
              <a:rPr lang="en-US" sz="1500">
                <a:solidFill>
                  <a:srgbClr val="334155"/>
                </a:solidFill>
              </a:rPr>
              <a:t>The report view keeps lead details out and asks only compliance-specific information.</a:t>
            </a:r>
          </a:p>
          <a:p>
            <a:pPr marL="240000" indent="-140000">
              <a:buChar char="-"/>
            </a:pPr>
            <a:r>
              <a:rPr lang="en-US" sz="1500">
                <a:solidFill>
                  <a:srgbClr val="334155"/>
                </a:solidFill>
              </a:rPr>
              <a:t>Final confirmation saves the report, evidence metadata and workflow status to the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Top Bar, Excel Import &amp; Draft Tools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600200"/>
            <a:ext cx="5120640" cy="3108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Back control returns to the prior dashboard area.</a:t>
            </a:r>
          </a:p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Step badge communicates workflow progress and unlocked status.</a:t>
            </a:r>
          </a:p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Upload Excel supports bulk lead creation from spreadsheet data.</a:t>
            </a:r>
          </a:p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Import Drafts restores incomplete leads so users can continue without retyping.</a:t>
            </a:r>
          </a:p>
        </p:txBody>
      </p:sp>
      <p:sp>
        <p:nvSpPr>
          <p:cNvPr id="40" name="Shape 40"/>
          <p:cNvSpPr/>
          <p:nvPr/>
        </p:nvSpPr>
        <p:spPr>
          <a:xfrm>
            <a:off x="6400800" y="1508760"/>
            <a:ext cx="4480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00800" y="1508760"/>
            <a:ext cx="100584" cy="8229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656832" y="1673352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1D4ED8"/>
                </a:solidFill>
              </a:rPr>
              <a:t>Upload Excel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656832" y="2075688"/>
            <a:ext cx="3977640" cy="914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Bulk upload lead data using mapped columns such as Company, Status, PIBO Category, Services Offered, Address, City, PIN, State and Contact Person.</a:t>
            </a:r>
          </a:p>
        </p:txBody>
      </p:sp>
      <p:sp>
        <p:nvSpPr>
          <p:cNvPr id="50" name="Shape 50"/>
          <p:cNvSpPr/>
          <p:nvPr/>
        </p:nvSpPr>
        <p:spPr>
          <a:xfrm>
            <a:off x="6400800" y="2560320"/>
            <a:ext cx="4480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400800" y="2560320"/>
            <a:ext cx="100584" cy="82296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6656832" y="2724912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047857"/>
                </a:solidFill>
              </a:rPr>
              <a:t>Import Drafts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656832" y="3127248"/>
            <a:ext cx="3977640" cy="914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Bring back saved draft leads and continue the workflow from the last completed step.</a:t>
            </a:r>
          </a:p>
        </p:txBody>
      </p:sp>
      <p:sp>
        <p:nvSpPr>
          <p:cNvPr id="60" name="Shape 60"/>
          <p:cNvSpPr/>
          <p:nvPr/>
        </p:nvSpPr>
        <p:spPr>
          <a:xfrm>
            <a:off x="6400800" y="3611880"/>
            <a:ext cx="4480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400800" y="3611880"/>
            <a:ext cx="100584" cy="822960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6656832" y="3776472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C2410C"/>
                </a:solidFill>
              </a:rPr>
              <a:t>Workflow Badge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656832" y="4178808"/>
            <a:ext cx="3977640" cy="914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Shows the current step and makes the page feel guided, controlled and review-ready.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Lead Section 1: Company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572768"/>
            <a:ext cx="5440680" cy="3749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Lead ID: auto-generated for manual entries using the next ATPL-LEAD number.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Client Communication Mode: channel through which the lead was received.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Status: current sales state such as Potential, Need Assistance, Lost or Existing Client.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Company: legal or trade name of the lead.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Industry Type, EPR Category, PIBO Category and Services Offered: classification fields for routing and compliance context.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481328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46520" y="1481328"/>
            <a:ext cx="100584" cy="786384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702552" y="164592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047857"/>
                </a:solidFill>
              </a:rPr>
              <a:t>Required Decision Fields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702552" y="2048256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Company, Status, PIBO Category and Services Offered must be completed before moving ahead.</a:t>
            </a:r>
          </a:p>
        </p:txBody>
      </p:sp>
      <p:sp>
        <p:nvSpPr>
          <p:cNvPr id="50" name="Shape 50"/>
          <p:cNvSpPr/>
          <p:nvPr/>
        </p:nvSpPr>
        <p:spPr>
          <a:xfrm>
            <a:off x="6446520" y="2487168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446520" y="2487168"/>
            <a:ext cx="100584" cy="78638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6702552" y="265176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1D4ED8"/>
                </a:solidFill>
              </a:rPr>
              <a:t>Selectable Controls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702552" y="3054096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Dropdown-style controls allow users to select an existing option or type a new value.</a:t>
            </a:r>
          </a:p>
        </p:txBody>
      </p:sp>
      <p:sp>
        <p:nvSpPr>
          <p:cNvPr id="60" name="Shape 60"/>
          <p:cNvSpPr/>
          <p:nvPr/>
        </p:nvSpPr>
        <p:spPr>
          <a:xfrm>
            <a:off x="6446520" y="3493008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446520" y="3493008"/>
            <a:ext cx="100584" cy="786384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6702552" y="36576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C2410C"/>
                </a:solidFill>
              </a:rPr>
              <a:t>Manual Entry Safety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702552" y="4059936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Lead ID generation protects manual users from duplicate or missing lead numbering.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Lead Section 2: Address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572768"/>
            <a:ext cx="5440680" cy="3749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Address Line 1: primary business address and required location reference.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Address Line 2 and Address Line 3: additional address details.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Landmark: supports field identification and local context.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State and City: structured location selection; City depends on selected State.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PIN Code, Existing Client and Website: postal, CRM and online identity context.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50876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46520" y="1508760"/>
            <a:ext cx="100584" cy="78638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702552" y="16733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1D4ED8"/>
                </a:solidFill>
              </a:rPr>
              <a:t>Location Integrity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702552" y="207568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State and City structure improves filtering, assignment and future reporting.</a:t>
            </a:r>
          </a:p>
        </p:txBody>
      </p:sp>
      <p:sp>
        <p:nvSpPr>
          <p:cNvPr id="50" name="Shape 50"/>
          <p:cNvSpPr/>
          <p:nvPr/>
        </p:nvSpPr>
        <p:spPr>
          <a:xfrm>
            <a:off x="6446520" y="251460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446520" y="2514600"/>
            <a:ext cx="100584" cy="786384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6702552" y="26791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047857"/>
                </a:solidFill>
              </a:rPr>
              <a:t>Client Context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702552" y="308152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Existing Client marks whether this is new business or an existing relationship.</a:t>
            </a:r>
          </a:p>
        </p:txBody>
      </p:sp>
      <p:sp>
        <p:nvSpPr>
          <p:cNvPr id="60" name="Shape 60"/>
          <p:cNvSpPr/>
          <p:nvPr/>
        </p:nvSpPr>
        <p:spPr>
          <a:xfrm>
            <a:off x="6446520" y="352044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446520" y="3520440"/>
            <a:ext cx="100584" cy="786384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6702552" y="36850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C2410C"/>
                </a:solidFill>
              </a:rPr>
              <a:t>Website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702552" y="408736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Captures a quick external reference for sales and compliance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Lead Section 3: Contact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572768"/>
            <a:ext cx="5440680" cy="3749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Salutation and Contact Person: the person responsible from client side.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Designation: role or authority level of the contact.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Email(s): one or multiple email addresses for communication.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Mobile No. 1 and Mobile No. 2: primary and backup phone contacts.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Business Card upload: visual contact reference stored with the lead.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50876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46520" y="1508760"/>
            <a:ext cx="100584" cy="786384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702552" y="16733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C2410C"/>
                </a:solidFill>
              </a:rPr>
              <a:t>Communication Ready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702552" y="207568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All contact fields support fast follow-up and assignment clarity.</a:t>
            </a:r>
          </a:p>
        </p:txBody>
      </p:sp>
      <p:sp>
        <p:nvSpPr>
          <p:cNvPr id="50" name="Shape 50"/>
          <p:cNvSpPr/>
          <p:nvPr/>
        </p:nvSpPr>
        <p:spPr>
          <a:xfrm>
            <a:off x="6446520" y="251460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446520" y="2514600"/>
            <a:ext cx="100584" cy="786384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6702552" y="26791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047857"/>
                </a:solidFill>
              </a:rPr>
              <a:t>Business Card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702552" y="308152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A file/image reference helps staff verify details quickly.</a:t>
            </a:r>
          </a:p>
        </p:txBody>
      </p:sp>
      <p:sp>
        <p:nvSpPr>
          <p:cNvPr id="60" name="Shape 60"/>
          <p:cNvSpPr/>
          <p:nvPr/>
        </p:nvSpPr>
        <p:spPr>
          <a:xfrm>
            <a:off x="6446520" y="352044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446520" y="3520440"/>
            <a:ext cx="100584" cy="78638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6702552" y="36850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1D4ED8"/>
                </a:solidFill>
              </a:rPr>
              <a:t>Clean CRM Record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702552" y="408736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Contact data is separated from address and assignment data for easier scanning.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Lead Section 4: Assign &amp; Additional Information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572768"/>
            <a:ext cx="5440680" cy="3794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Assign To Staff: routes the lead to a team member.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Assigned To Text and Assigned By: manual tracking context.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Created By, Created At and Updated At: import or workflow timestamps.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Referred By and Source: lead attribution.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Emails Sent Count, Last Email Sent, Lead Date, Next Follow-Up Date/Time and Remarks support sales follow-up discipline.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50876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46520" y="1508760"/>
            <a:ext cx="100584" cy="786384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702552" y="16733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C2410C"/>
                </a:solidFill>
              </a:rPr>
              <a:t>Save Draft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702552" y="207568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Keeps the lead editable without marking it as complete.</a:t>
            </a:r>
          </a:p>
        </p:txBody>
      </p:sp>
      <p:sp>
        <p:nvSpPr>
          <p:cNvPr id="50" name="Shape 50"/>
          <p:cNvSpPr/>
          <p:nvPr/>
        </p:nvSpPr>
        <p:spPr>
          <a:xfrm>
            <a:off x="6446520" y="251460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446520" y="2514600"/>
            <a:ext cx="100584" cy="786384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6702552" y="26791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047857"/>
                </a:solidFill>
              </a:rPr>
              <a:t>Submit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702552" y="308152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Opens the decision popup for Compliance Health Report processing.</a:t>
            </a:r>
          </a:p>
        </p:txBody>
      </p:sp>
      <p:sp>
        <p:nvSpPr>
          <p:cNvPr id="60" name="Shape 60"/>
          <p:cNvSpPr/>
          <p:nvPr/>
        </p:nvSpPr>
        <p:spPr>
          <a:xfrm>
            <a:off x="6446520" y="352044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446520" y="3520440"/>
            <a:ext cx="100584" cy="78638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6702552" y="36850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1D4ED8"/>
                </a:solidFill>
              </a:rPr>
              <a:t>Follow-Up Data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702552" y="408736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Keeps sales action items visible and accountable.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Submit Decision Popup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600200"/>
            <a:ext cx="5394960" cy="3429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The popup asks: Do you want to process for COMPLIANCE HEALTH REPORT?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Yes opens the dedicated report page.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No reveals a review checkbox before lead-only submission.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The checkbox message confirms the user checked all entered details.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This step prevents accidental submissions and gives a clear audit checkpoint.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508760"/>
            <a:ext cx="44805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720840" y="17830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000" b="1">
                <a:solidFill>
                  <a:srgbClr val="047857"/>
                </a:solidFill>
              </a:rPr>
              <a:t>Decision Modal</a:t>
            </a:r>
          </a:p>
        </p:txBody>
      </p:sp>
      <p:sp>
        <p:nvSpPr>
          <p:cNvPr id="42" name="Shape 42"/>
          <p:cNvSpPr/>
          <p:nvPr/>
        </p:nvSpPr>
        <p:spPr>
          <a:xfrm>
            <a:off x="6720840" y="2560320"/>
            <a:ext cx="1691640" cy="54864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6903720" y="271576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44" name="Shape 44"/>
          <p:cNvSpPr/>
          <p:nvPr/>
        </p:nvSpPr>
        <p:spPr>
          <a:xfrm>
            <a:off x="8732520" y="2560320"/>
            <a:ext cx="1691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8915400" y="271576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334155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Compliance Report Header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600200"/>
            <a:ext cx="5349240" cy="3429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The report opens as a focused compliance workspace.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Stats show Overview Fields, Observation Rows, Checklist Items and Screenshots.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Progress rail highlights Overview, Objective, Observations and Evidence.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Lead details already captured earlier are not repeated here.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This keeps the report shorter and easier to complete.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50876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46520" y="1508760"/>
            <a:ext cx="100584" cy="786384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702552" y="16733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047857"/>
                </a:solidFill>
              </a:rPr>
              <a:t>Overview Fields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702552" y="207568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Counts the core report-specific company overview inputs.</a:t>
            </a:r>
          </a:p>
        </p:txBody>
      </p:sp>
      <p:sp>
        <p:nvSpPr>
          <p:cNvPr id="50" name="Shape 50"/>
          <p:cNvSpPr/>
          <p:nvPr/>
        </p:nvSpPr>
        <p:spPr>
          <a:xfrm>
            <a:off x="6446520" y="251460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446520" y="2514600"/>
            <a:ext cx="100584" cy="78638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6702552" y="26791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1D4ED8"/>
                </a:solidFill>
              </a:rPr>
              <a:t>Observation Rows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702552" y="308152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Counts findings from compliance and annual return tables.</a:t>
            </a:r>
          </a:p>
        </p:txBody>
      </p:sp>
      <p:sp>
        <p:nvSpPr>
          <p:cNvPr id="60" name="Shape 60"/>
          <p:cNvSpPr/>
          <p:nvPr/>
        </p:nvSpPr>
        <p:spPr>
          <a:xfrm>
            <a:off x="6446520" y="352044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446520" y="3520440"/>
            <a:ext cx="100584" cy="786384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6702552" y="36850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C2410C"/>
                </a:solidFill>
              </a:rPr>
              <a:t>Evidence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702552" y="408736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Tracks screenshots and supporting files uploaded to the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Report Section 1: Company Overview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572768"/>
            <a:ext cx="5440680" cy="3886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Year of Commencement of Operations: first year of business operations.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Year of Establishment: establishment or registration date.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Type of Organization: business classification.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Product Category and EPR Registration Number: regulatory identification.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Financial Year Reviewed: period covered by this compliance report.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Key Products / Brands: multi-select evidence field instead of a plain input.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50876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46520" y="1508760"/>
            <a:ext cx="100584" cy="786384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702552" y="16733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047857"/>
                </a:solidFill>
              </a:rPr>
              <a:t>Key Products / Brands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702552" y="207568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Uses a chip-based multi-select with Uploaded in shared folder.</a:t>
            </a:r>
          </a:p>
        </p:txBody>
      </p:sp>
      <p:sp>
        <p:nvSpPr>
          <p:cNvPr id="50" name="Shape 50"/>
          <p:cNvSpPr/>
          <p:nvPr/>
        </p:nvSpPr>
        <p:spPr>
          <a:xfrm>
            <a:off x="6446520" y="251460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446520" y="2514600"/>
            <a:ext cx="100584" cy="78638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6702552" y="26791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1D4ED8"/>
                </a:solidFill>
              </a:rPr>
              <a:t>Product Category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702552" y="308152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Captures product classification for compliance review.</a:t>
            </a:r>
          </a:p>
        </p:txBody>
      </p:sp>
      <p:sp>
        <p:nvSpPr>
          <p:cNvPr id="60" name="Shape 60"/>
          <p:cNvSpPr/>
          <p:nvPr/>
        </p:nvSpPr>
        <p:spPr>
          <a:xfrm>
            <a:off x="6446520" y="352044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446520" y="3520440"/>
            <a:ext cx="100584" cy="786384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6702552" y="36850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C2410C"/>
                </a:solidFill>
              </a:rPr>
              <a:t>EPR Registration Number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702552" y="408736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Stores the official EPR registration reference.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Uploaded in Shared Folder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572768"/>
            <a:ext cx="5440680" cy="3703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When selected, a professional upload panel appears below Key Products / Brands.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Choose Files supports multiple direct file uploads.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Choose Folder supports folder upload in compatible browsers.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Uploaded rows show file name, relative folder path or type, size and remove action.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Shared folder uploads save lightweight metadata with the report.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554480"/>
            <a:ext cx="4480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720840" y="17556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500" b="1">
                <a:solidFill>
                  <a:srgbClr val="047857"/>
                </a:solidFill>
              </a:rPr>
              <a:t>Choose Files</a:t>
            </a:r>
          </a:p>
        </p:txBody>
      </p:sp>
      <p:sp>
        <p:nvSpPr>
          <p:cNvPr id="42" name="Shape 42"/>
          <p:cNvSpPr/>
          <p:nvPr/>
        </p:nvSpPr>
        <p:spPr>
          <a:xfrm>
            <a:off x="6446520" y="2423160"/>
            <a:ext cx="4480560" cy="68580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6720840" y="262432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500" b="1">
                <a:solidFill>
                  <a:srgbClr val="FFFFFF"/>
                </a:solidFill>
              </a:rPr>
              <a:t>Choose Folder</a:t>
            </a:r>
          </a:p>
        </p:txBody>
      </p:sp>
      <p:sp>
        <p:nvSpPr>
          <p:cNvPr id="44" name="Shape 44"/>
          <p:cNvSpPr/>
          <p:nvPr/>
        </p:nvSpPr>
        <p:spPr>
          <a:xfrm>
            <a:off x="6446520" y="3291840"/>
            <a:ext cx="4480560" cy="68580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6720840" y="349300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500" b="1">
                <a:solidFill>
                  <a:srgbClr val="C2410C"/>
                </a:solidFill>
              </a:rPr>
              <a:t>Uploaded File 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Report Section 2: Objective of Review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600200"/>
            <a:ext cx="5440680" cy="3474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Large textarea captures the purpose of the review.</a:t>
            </a:r>
          </a:p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The user can mention the portal, registration data, rules and review scope.</a:t>
            </a:r>
          </a:p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This section frames the rest of the report for readers.</a:t>
            </a:r>
          </a:p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It should explain why the report is being prepared and what risks are being checked.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691640"/>
            <a:ext cx="4480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720840" y="19933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900" b="1">
                <a:solidFill>
                  <a:srgbClr val="0F172A"/>
                </a:solidFill>
              </a:rPr>
              <a:t>Objective Text Area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720840" y="26700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200">
                <a:solidFill>
                  <a:srgbClr val="475569"/>
                </a:solidFill>
              </a:rPr>
              <a:t>Review submitted portal data, identify gaps, inconsistencies and potential regulatory risks.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Report Section 3.1: Key Compliance Observations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572768"/>
            <a:ext cx="5440680" cy="3794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Sr. No.: traceable row number.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Area: compliance part such as Part A General Information.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Observation: exact gap, mismatch or missing data.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Potential Risk: compliance exposure caused by the observation.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Screenshot Reference: file/evidence connection.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Action: remove row; Add Row creates more observations.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50876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46520" y="1508760"/>
            <a:ext cx="100584" cy="786384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702552" y="16733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047857"/>
                </a:solidFill>
              </a:rPr>
              <a:t>Observation Table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702552" y="207568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Designed for compliance gaps and supporting evidence.</a:t>
            </a:r>
          </a:p>
        </p:txBody>
      </p:sp>
      <p:sp>
        <p:nvSpPr>
          <p:cNvPr id="50" name="Shape 50"/>
          <p:cNvSpPr/>
          <p:nvPr/>
        </p:nvSpPr>
        <p:spPr>
          <a:xfrm>
            <a:off x="6446520" y="251460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446520" y="2514600"/>
            <a:ext cx="100584" cy="78638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6702552" y="26791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1D4ED8"/>
                </a:solidFill>
              </a:rPr>
              <a:t>Screenshot Reference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702552" y="308152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Supports Choose Files and selected file names for each row.</a:t>
            </a:r>
          </a:p>
        </p:txBody>
      </p:sp>
      <p:sp>
        <p:nvSpPr>
          <p:cNvPr id="60" name="Shape 60"/>
          <p:cNvSpPr/>
          <p:nvPr/>
        </p:nvSpPr>
        <p:spPr>
          <a:xfrm>
            <a:off x="6446520" y="352044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446520" y="3520440"/>
            <a:ext cx="100584" cy="786384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6702552" y="36850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C2410C"/>
                </a:solidFill>
              </a:rPr>
              <a:t>Add Row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702552" y="408736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Allows unlimited findings without changing the page 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Report Section 3.2: Annual Return Observations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600200"/>
            <a:ext cx="9875520" cy="2971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Annual Return observations are separated from general compliance findings.</a:t>
            </a:r>
          </a:p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Default Area is Annual Return so the user starts faster.</a:t>
            </a:r>
          </a:p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Use this section for missing annual returns, missing sales data, outdated submissions or quantity mismatch.</a:t>
            </a:r>
          </a:p>
          <a:p>
            <a:pPr marL="240000" indent="-140000">
              <a:buChar char="-"/>
            </a:pPr>
            <a:r>
              <a:rPr lang="en-US" sz="1400">
                <a:solidFill>
                  <a:srgbClr val="334155"/>
                </a:solidFill>
              </a:rPr>
              <a:t>The same Sr. No., Observation, Potential Risk and Screenshot Reference pattern keeps the report consistent.</a:t>
            </a:r>
          </a:p>
        </p:txBody>
      </p:sp>
      <p:sp>
        <p:nvSpPr>
          <p:cNvPr id="40" name="Shape 40"/>
          <p:cNvSpPr/>
          <p:nvPr/>
        </p:nvSpPr>
        <p:spPr>
          <a:xfrm>
            <a:off x="868680" y="4709160"/>
            <a:ext cx="10012680" cy="5486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51560" y="4846320"/>
            <a:ext cx="9646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047857"/>
                </a:solidFill>
              </a:rPr>
              <a:t>Purpose: keep annual return gaps clear, auditable and separate from registration-level observations.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Report Section 4: Compliance Checklist Review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572768"/>
            <a:ext cx="5440680" cy="3840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Grouped checklist review covers Part A, Authorized Person Details, Operational Details and Documents.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Compliance Requirement contains the item being checked.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Status captures Yes, No, Uploaded, Not Uploaded, Mentioned or Not Applicable.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Remark captures reviewer notes.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Grouped layout reduces repeated Part labels and keeps the long checklist scannable.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50876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446520" y="1508760"/>
            <a:ext cx="100584" cy="786384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702552" y="16733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047857"/>
                </a:solidFill>
              </a:rPr>
              <a:t>Part A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702552" y="207568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Legal/trade name, type of company, type of business, CIN, PAN and registered address.</a:t>
            </a:r>
          </a:p>
        </p:txBody>
      </p:sp>
      <p:sp>
        <p:nvSpPr>
          <p:cNvPr id="50" name="Shape 50"/>
          <p:cNvSpPr/>
          <p:nvPr/>
        </p:nvSpPr>
        <p:spPr>
          <a:xfrm>
            <a:off x="6446520" y="251460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446520" y="2514600"/>
            <a:ext cx="100584" cy="78638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6702552" y="26791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1D4ED8"/>
                </a:solidFill>
              </a:rPr>
              <a:t>Authorized Person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702552" y="308152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Name, designation, PAN, mobile number and email ID.</a:t>
            </a:r>
          </a:p>
        </p:txBody>
      </p:sp>
      <p:sp>
        <p:nvSpPr>
          <p:cNvPr id="60" name="Shape 60"/>
          <p:cNvSpPr/>
          <p:nvPr/>
        </p:nvSpPr>
        <p:spPr>
          <a:xfrm>
            <a:off x="6446520" y="3520440"/>
            <a:ext cx="4526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446520" y="3520440"/>
            <a:ext cx="100584" cy="786384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6702552" y="36850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 b="1">
                <a:solidFill>
                  <a:srgbClr val="C2410C"/>
                </a:solidFill>
              </a:rPr>
              <a:t>Documents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702552" y="4087368"/>
            <a:ext cx="4023360" cy="54864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Portal documents, product details, photographs and other supporting information.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Evidence: Screenshot Reference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600200"/>
            <a:ext cx="5440680" cy="3474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Bulk Upload supports many screenshots, PDFs or supporting images.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Preview cards show uploaded evidence with file name and size.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Each uploaded item has a remove action.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A file-count badge confirms the amount of evidence attached.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This section centralizes evidence for the full report.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600200"/>
            <a:ext cx="4480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720840" y="180136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500" b="1">
                <a:solidFill>
                  <a:srgbClr val="047857"/>
                </a:solidFill>
              </a:rPr>
              <a:t>Choose Files</a:t>
            </a:r>
          </a:p>
        </p:txBody>
      </p:sp>
      <p:sp>
        <p:nvSpPr>
          <p:cNvPr id="42" name="Shape 42"/>
          <p:cNvSpPr/>
          <p:nvPr/>
        </p:nvSpPr>
        <p:spPr>
          <a:xfrm>
            <a:off x="6446520" y="2514600"/>
            <a:ext cx="4480560" cy="68580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6720840" y="271576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500" b="1">
                <a:solidFill>
                  <a:srgbClr val="FFFFFF"/>
                </a:solidFill>
              </a:rPr>
              <a:t>Bulk Upload</a:t>
            </a:r>
          </a:p>
        </p:txBody>
      </p:sp>
      <p:sp>
        <p:nvSpPr>
          <p:cNvPr id="44" name="Shape 44"/>
          <p:cNvSpPr/>
          <p:nvPr/>
        </p:nvSpPr>
        <p:spPr>
          <a:xfrm>
            <a:off x="6446520" y="3429000"/>
            <a:ext cx="4480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6720840" y="363016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500" b="1">
                <a:solidFill>
                  <a:srgbClr val="0F172A"/>
                </a:solidFill>
              </a:rPr>
              <a:t>Preview Cards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Final Notes: Conclusion &amp; Next Steps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600200"/>
            <a:ext cx="5440680" cy="3474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Conclusion and Recommendations appear side-by-side in a 50/50 layout.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Rows are numbered 1, 2, 3 and so on.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Add Note creates another conclusion/recommendation pair.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Cut button removes an extra row.</a:t>
            </a:r>
          </a:p>
          <a:p>
            <a:pPr marL="240000" indent="-140000">
              <a:buChar char="-"/>
            </a:pPr>
            <a:r>
              <a:rPr lang="en-US" sz="1300">
                <a:solidFill>
                  <a:srgbClr val="334155"/>
                </a:solidFill>
              </a:rPr>
              <a:t>Previously saved text can be frozen to protect reviewed content.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783080"/>
            <a:ext cx="2057400" cy="566928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629400" y="193852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047857"/>
                </a:solidFill>
              </a:rPr>
              <a:t>Conclusion</a:t>
            </a:r>
          </a:p>
        </p:txBody>
      </p:sp>
      <p:sp>
        <p:nvSpPr>
          <p:cNvPr id="42" name="Shape 42"/>
          <p:cNvSpPr/>
          <p:nvPr/>
        </p:nvSpPr>
        <p:spPr>
          <a:xfrm>
            <a:off x="8732520" y="1783080"/>
            <a:ext cx="2057400" cy="566928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8915400" y="193852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047857"/>
                </a:solidFill>
              </a:rPr>
              <a:t>Recommendations</a:t>
            </a:r>
          </a:p>
        </p:txBody>
      </p:sp>
      <p:sp>
        <p:nvSpPr>
          <p:cNvPr id="44" name="Shape 44"/>
          <p:cNvSpPr/>
          <p:nvPr/>
        </p:nvSpPr>
        <p:spPr>
          <a:xfrm>
            <a:off x="7132320" y="2880360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7315200" y="29900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047857"/>
                </a:solidFill>
              </a:rPr>
              <a:t>Add Note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56032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11480" y="640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0" y="2926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200" b="1">
                <a:solidFill>
                  <a:srgbClr val="020617"/>
                </a:solidFill>
              </a:rPr>
              <a:t>Final Review Popup &amp; Database Save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34640" y="6949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http://localhost:8080/sales/lead-generation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411480" y="1115568"/>
            <a:ext cx="11338560" cy="1828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</p:sp>
      <p:sp>
        <p:nvSpPr>
          <p:cNvPr id="30" name="Bullets 30"/>
          <p:cNvSpPr txBox="1"/>
          <p:nvPr/>
        </p:nvSpPr>
        <p:spPr>
          <a:xfrm>
            <a:off x="685800" y="1572768"/>
            <a:ext cx="5440680" cy="3749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Submit Report opens a final review popup.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The checkbox says: I have reviewed all the details I entered, and they are correct.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Submit remains disabled until the checkbox is selected.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Saved report includes overview fields, observations, checklist review, screenshots, shared folder uploads, final notes, reviewed confirmation and submittedAt timestamp.</a:t>
            </a:r>
          </a:p>
          <a:p>
            <a:pPr marL="240000" indent="-140000">
              <a:buChar char="-"/>
            </a:pPr>
            <a:r>
              <a:rPr lang="en-US" sz="1200">
                <a:solidFill>
                  <a:srgbClr val="334155"/>
                </a:solidFill>
              </a:rPr>
              <a:t>Workflow status is set to submitted after a successful save.</a:t>
            </a:r>
          </a:p>
        </p:txBody>
      </p:sp>
      <p:sp>
        <p:nvSpPr>
          <p:cNvPr id="40" name="Shape 40"/>
          <p:cNvSpPr/>
          <p:nvPr/>
        </p:nvSpPr>
        <p:spPr>
          <a:xfrm>
            <a:off x="6446520" y="1645920"/>
            <a:ext cx="448056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FED7AA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720840" y="190195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600" b="1">
                <a:solidFill>
                  <a:srgbClr val="0F172A"/>
                </a:solidFill>
              </a:rPr>
              <a:t>Submit COMPLIANCE HEALTH REPORT</a:t>
            </a:r>
          </a:p>
        </p:txBody>
      </p:sp>
      <p:sp>
        <p:nvSpPr>
          <p:cNvPr id="42" name="Shape 42"/>
          <p:cNvSpPr/>
          <p:nvPr/>
        </p:nvSpPr>
        <p:spPr>
          <a:xfrm>
            <a:off x="6720840" y="2651760"/>
            <a:ext cx="3566160" cy="45720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6903720" y="276148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200" b="1">
                <a:solidFill>
                  <a:srgbClr val="C2410C"/>
                </a:solidFill>
              </a:rPr>
              <a:t>Reviewed confirmation checkbox</a:t>
            </a:r>
          </a:p>
        </p:txBody>
      </p:sp>
      <p:sp>
        <p:nvSpPr>
          <p:cNvPr id="44" name="Shape 44"/>
          <p:cNvSpPr/>
          <p:nvPr/>
        </p:nvSpPr>
        <p:spPr>
          <a:xfrm>
            <a:off x="7543800" y="3474720"/>
            <a:ext cx="2011680" cy="50292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7726680" y="358444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300" b="1">
                <a:solidFill>
                  <a:srgbClr val="FFFFFF"/>
                </a:solidFill>
              </a:rPr>
              <a:t>Submit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685800" y="566928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85800" y="950976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85800" y="1417320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3000" b="1">
                <a:solidFill>
                  <a:srgbClr val="020617"/>
                </a:solidFill>
              </a:rPr>
              <a:t>Professional, Audit-Ready Reporting Flow</a:t>
            </a:r>
          </a:p>
        </p:txBody>
      </p:sp>
      <p:sp>
        <p:nvSpPr>
          <p:cNvPr id="30" name="Bullets 30"/>
          <p:cNvSpPr txBox="1"/>
          <p:nvPr/>
        </p:nvSpPr>
        <p:spPr>
          <a:xfrm>
            <a:off x="868680" y="2331720"/>
            <a:ext cx="9875520" cy="2514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40000" indent="-140000">
              <a:buChar char="-"/>
            </a:pPr>
            <a:r>
              <a:rPr lang="en-US" sz="1500">
                <a:solidFill>
                  <a:srgbClr val="334155"/>
                </a:solidFill>
              </a:rPr>
              <a:t>Modern tabbed lead entry for sales operations.</a:t>
            </a:r>
          </a:p>
          <a:p>
            <a:pPr marL="240000" indent="-140000">
              <a:buChar char="-"/>
            </a:pPr>
            <a:r>
              <a:rPr lang="en-US" sz="1500">
                <a:solidFill>
                  <a:srgbClr val="334155"/>
                </a:solidFill>
              </a:rPr>
              <a:t>Report page removes duplicate lead details and focuses on compliance-specific inputs.</a:t>
            </a:r>
          </a:p>
          <a:p>
            <a:pPr marL="240000" indent="-140000">
              <a:buChar char="-"/>
            </a:pPr>
            <a:r>
              <a:rPr lang="en-US" sz="1500">
                <a:solidFill>
                  <a:srgbClr val="334155"/>
                </a:solidFill>
              </a:rPr>
              <a:t>Evidence-first design with screenshots and shared folder file/folder uploads.</a:t>
            </a:r>
          </a:p>
          <a:p>
            <a:pPr marL="240000" indent="-140000">
              <a:buChar char="-"/>
            </a:pPr>
            <a:r>
              <a:rPr lang="en-US" sz="1500">
                <a:solidFill>
                  <a:srgbClr val="334155"/>
                </a:solidFill>
              </a:rPr>
              <a:t>Structured observations, annual return review and checklist tracking.</a:t>
            </a:r>
          </a:p>
          <a:p>
            <a:pPr marL="240000" indent="-140000">
              <a:buChar char="-"/>
            </a:pPr>
            <a:r>
              <a:rPr lang="en-US" sz="1500">
                <a:solidFill>
                  <a:srgbClr val="334155"/>
                </a:solidFill>
              </a:rPr>
              <a:t>Confirmation-driven final submission improves accuracy and accountability.</a:t>
            </a:r>
          </a:p>
        </p:txBody>
      </p:sp>
      <p:sp>
        <p:nvSpPr>
          <p:cNvPr id="40" name="Shape 40"/>
          <p:cNvSpPr/>
          <p:nvPr/>
        </p:nvSpPr>
        <p:spPr>
          <a:xfrm>
            <a:off x="868680" y="5349240"/>
            <a:ext cx="2926080" cy="50292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51560" y="545896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FFFFFF"/>
                </a:solidFill>
              </a:rPr>
              <a:t>ANANT TATTVA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nt Tattva">
  <a:themeElements>
    <a:clrScheme name="Anant">
      <a:dk1>
        <a:srgbClr val="020617"/>
      </a:dk1>
      <a:lt1>
        <a:srgbClr val="FFFFFF"/>
      </a:lt1>
      <a:dk2>
        <a:srgbClr val="334155"/>
      </a:dk2>
      <a:lt2>
        <a:srgbClr val="F8FAFC"/>
      </a:lt2>
      <a:accent1>
        <a:srgbClr val="047857"/>
      </a:accent1>
      <a:accent2>
        <a:srgbClr val="F97316"/>
      </a:accent2>
      <a:accent3>
        <a:srgbClr val="0EA5E9"/>
      </a:accent3>
      <a:accent4>
        <a:srgbClr val="64748B"/>
      </a:accent4>
      <a:accent5>
        <a:srgbClr val="10B981"/>
      </a:accent5>
      <a:accent6>
        <a:srgbClr val="FB923C"/>
      </a:accent6>
      <a:hlink>
        <a:srgbClr val="0EA5E9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Generation Compliance Walkthrough</dc:title>
  <dc:creator>Anant Tattva</dc:creator>
  <cp:lastModifiedBy>Anant Tattva</cp:lastModifiedBy>
  <dcterms:created xsi:type="dcterms:W3CDTF">2026-06-29T12:42:48Z</dcterms:created>
  <dcterms:modified xsi:type="dcterms:W3CDTF">2026-06-29T12:42:48Z</dcterms:modified>
</cp:coreProperties>
</file>